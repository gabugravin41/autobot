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Long-horizon autonomy fails quietly. This talk covers the architecture, the two failure modes that cost us the most, verified results, and the economics of a 12-hour unattended AI engineering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horizons (2 min): model reasoning dominates and a human is the watchdog. Long horizons (12 h+): operations dominate - budgets, liveness, silent sleep and drift. Single-turn benchmarks mask these long-horizon failure modes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Erlang / Kubernetes lineage. Fast inner loop (2 min): deterministic Python supervisor that polls workers, checks health and extracts tracebacks. Slow outer loop (30 min): scheduled LLM reconciler that audits state, diagnoses crashes and manages midnight-UTC quotas. Together they stop silent overnight stalls.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 6/7: 8.0 min budget x 120 tasks = 16 h, plus 2.4 h overhead = 18.4 h, which hits the 12 h SIGKILL. SWE-bench agents fail on ~85% of tasks and burn the full cap each time. Exp 8: 3.5 min budget with 2048 thinking tokens keeps total runtime &lt;= 8.5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hour 2.1 an AssertionError fired: tree height reached 0.000 m at an arid test site. The invariant was only checked at export after 185k rows, wasting two hours of compute. Exp 7 clamps per hop and passes; report clip hit-rates so clamping never hides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Playground S6E9: rank #131 of 2,683 (top 4.88%). Biohub cell tracking: #460 of 3,906 (top 11.8%). UMUD muscle architecture: #45 of 310 (top 14.5%). Soil granulometry and traffic flow were held concurrently by the same unattended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Marginal cost: $5.00 per 12 h run ($0.29 electricity + $4.71 inference). Fully loaded ~$35 including amortized 4x L4 GPU compute and tooling, versus $4,320 for three senior engineers over the same 12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SEQUOY: dynamically generated HL7 FHIR R4 transaction bundles (Encounter, Condition, Patient) mapped to KenyaEMR / OpenMRS CIEL concepts (CIEL 113054 pre-eclampsia, CIEL 230 PPH); 10 Kenyan hospital procurement dossiers drafted.</a:t>
            </a:r>
          </a:p>
          <a:p>
            <a:r>
              <a:t>Kenya Camera AI: 50.9 ms average CPU inference with YOLOX-Nano ONNX; 9-12 concurrent camera feeds on a $150 Intel N100 mini PC; 7 smoke tests pass in 1.55 s with no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Law 1 - Paranoid liveness: silent deadlocks outnumbered loud crashes roughly 5:1, so watchdog timers and scheduled interrupts are mandatory.</a:t>
            </a:r>
          </a:p>
          <a:p>
            <a:r>
              <a:t>Law 2 - Pre-dispatch budget proofs: budgets compound multiplicatively across task splits; prove worst-case runtime &lt;= the hard limit before launching.</a:t>
            </a:r>
          </a:p>
          <a:p>
            <a:r>
              <a:t>Law 3 - Physical boundary projections: statistical models drift into non-physical space; clamp at every hop and monitor clip hit-rates.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Measure: ablate the outer loop to quantify MTTD and MTTR, record stall-hours avoided, and log clip-activation telemetry.</a:t>
            </a:r>
          </a:p>
          <a:p>
            <a:r>
              <a:t>Generalize: replace bespoke scripts with a declarative job registry, a per-hop invariant library, and a pre-dispatch budget verifier CLI.</a:t>
            </a:r>
          </a:p>
          <a:p>
            <a:r>
              <a:t>Prove: publish telemetry logs, reproducible commit snapshots, and run continuous multi-day autonomous swarms.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822960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000" b="1">
                <a:solidFill>
                  <a:srgbClr val="06B6D4"/>
                </a:solidFill>
                <a:latin typeface="Calibri"/>
              </a:rPr>
              <a:t>AUTOBOT SYSTEMS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949440" cy="18288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4400" b="1">
                <a:solidFill>
                  <a:srgbClr val="F8FAFC"/>
                </a:solidFill>
                <a:latin typeface="Calibri"/>
              </a:rPr>
              <a:t>Long-Horizon Autonomy</a:t>
            </a:r>
          </a:p>
          <a:p>
            <a:pPr algn="l"/>
            <a:r>
              <a:rPr sz="4400" b="1">
                <a:solidFill>
                  <a:srgbClr val="06B6D4"/>
                </a:solidFill>
                <a:latin typeface="Calibri"/>
              </a:rPr>
              <a:t>Fails Quietly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63240"/>
            <a:ext cx="6949440" cy="8229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Architecture · Failure modes · Economics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Dalton Omondi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7886700" y="2857499"/>
            <a:ext cx="2926080" cy="502921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498079" y="2971799"/>
            <a:ext cx="777240" cy="77724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600" b="1">
                <a:solidFill>
                  <a:srgbClr val="F59E0B"/>
                </a:solidFill>
                <a:latin typeface="Calibri"/>
              </a:rPr>
              <a:t>2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59" y="3858768"/>
            <a:ext cx="132588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Chat</a:t>
            </a:r>
          </a:p>
        </p:txBody>
      </p:sp>
      <p:sp>
        <p:nvSpPr>
          <p:cNvPr id="8" name="Oval 7"/>
          <p:cNvSpPr/>
          <p:nvPr/>
        </p:nvSpPr>
        <p:spPr>
          <a:xfrm>
            <a:off x="8503920" y="2560320"/>
            <a:ext cx="1188720" cy="118872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2000" b="1">
                <a:solidFill>
                  <a:srgbClr val="3B82F6"/>
                </a:solidFill>
                <a:latin typeface="Calibri"/>
              </a:rPr>
              <a:t>30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858768"/>
            <a:ext cx="173736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Agent chains</a:t>
            </a:r>
          </a:p>
        </p:txBody>
      </p:sp>
      <p:sp>
        <p:nvSpPr>
          <p:cNvPr id="10" name="Oval 9"/>
          <p:cNvSpPr/>
          <p:nvPr/>
        </p:nvSpPr>
        <p:spPr>
          <a:xfrm>
            <a:off x="9921240" y="1965959"/>
            <a:ext cx="1783080" cy="178308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3000" b="1">
                <a:solidFill>
                  <a:srgbClr val="10B981"/>
                </a:solidFill>
                <a:latin typeface="Calibri"/>
              </a:rPr>
              <a:t>12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19" y="3858768"/>
            <a:ext cx="233172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Autobot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3576218" cy="14630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4400" b="1">
                <a:solidFill>
                  <a:srgbClr val="10B981"/>
                </a:solidFill>
                <a:latin typeface="Calibri"/>
              </a:rPr>
              <a:t>12+ h</a:t>
            </a:r>
          </a:p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unattended horizon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4572000"/>
            <a:ext cx="3576218" cy="14630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4400" b="1">
                <a:solidFill>
                  <a:srgbClr val="06B6D4"/>
                </a:solidFill>
                <a:latin typeface="Calibri"/>
              </a:rPr>
              <a:t>6</a:t>
            </a:r>
          </a:p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concurrent domains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4572000"/>
            <a:ext cx="3576218" cy="14630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4400" b="1">
                <a:solidFill>
                  <a:srgbClr val="3B82F6"/>
                </a:solidFill>
                <a:latin typeface="Calibri"/>
              </a:rPr>
              <a:t>$5</a:t>
            </a:r>
          </a:p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marginal cost per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271016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000" b="1">
                <a:solidFill>
                  <a:srgbClr val="F59E0B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7680960" cy="5029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The horizon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56032"/>
            <a:ext cx="3504895" cy="9144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3600" b="1">
                <a:solidFill>
                  <a:srgbClr val="F59E0B"/>
                </a:solidFill>
                <a:latin typeface="Calibri"/>
              </a:rPr>
              <a:t>360×</a:t>
            </a:r>
          </a:p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longer than a chat turn</a:t>
            </a:r>
          </a:p>
        </p:txBody>
      </p:sp>
      <p:pic>
        <p:nvPicPr>
          <p:cNvPr id="5" name="Picture 4" descr="fig_horizon_gap.png"/>
          <p:cNvPicPr>
            <a:picLocks noChangeAspect="1"/>
          </p:cNvPicPr>
          <p:nvPr/>
        </p:nvPicPr>
        <p:blipFill>
          <a:blip r:embed="rId3"/>
          <a:srcRect t="10000" b="6000"/>
          <a:stretch>
            <a:fillRect/>
          </a:stretch>
        </p:blipFill>
        <p:spPr>
          <a:xfrm>
            <a:off x="457200" y="1508483"/>
            <a:ext cx="11277295" cy="413364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6053328"/>
            <a:ext cx="2468880" cy="512064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600" b="1">
                <a:solidFill>
                  <a:srgbClr val="10B981"/>
                </a:solidFill>
                <a:latin typeface="Calibri"/>
              </a:rPr>
              <a:t>12–48 h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Autobot horizon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6053328"/>
            <a:ext cx="2468880" cy="512064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600" b="1">
                <a:solidFill>
                  <a:srgbClr val="F59E0B"/>
                </a:solidFill>
                <a:latin typeface="Calibri"/>
              </a:rPr>
              <a:t>Silent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dominant failure mode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6053328"/>
            <a:ext cx="5973775" cy="51206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137160" rIns="137160"/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→  Beyond 30 min, operations decide success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435607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000" b="1">
                <a:solidFill>
                  <a:srgbClr val="3B82F6"/>
                </a:solidFill>
                <a:latin typeface="Calibri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7680960" cy="5029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Dual-loop supervision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56032"/>
            <a:ext cx="3504895" cy="9144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3600" b="1">
                <a:solidFill>
                  <a:srgbClr val="3B82F6"/>
                </a:solidFill>
                <a:latin typeface="Calibri"/>
              </a:rPr>
              <a:t>2 m / 30 m</a:t>
            </a:r>
          </a:p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inner / outer cadence</a:t>
            </a:r>
          </a:p>
        </p:txBody>
      </p:sp>
      <p:pic>
        <p:nvPicPr>
          <p:cNvPr id="5" name="Picture 4" descr="fig_supervision_architecture.png"/>
          <p:cNvPicPr>
            <a:picLocks noChangeAspect="1"/>
          </p:cNvPicPr>
          <p:nvPr/>
        </p:nvPicPr>
        <p:blipFill>
          <a:blip r:embed="rId3"/>
          <a:srcRect t="8500"/>
          <a:stretch>
            <a:fillRect/>
          </a:stretch>
        </p:blipFill>
        <p:spPr>
          <a:xfrm>
            <a:off x="457200" y="1323945"/>
            <a:ext cx="11277295" cy="45027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6053328"/>
            <a:ext cx="2468880" cy="512064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600" b="1">
                <a:solidFill>
                  <a:srgbClr val="06B6D4"/>
                </a:solidFill>
                <a:latin typeface="Calibri"/>
              </a:rPr>
              <a:t>Python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deterministic inner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6053328"/>
            <a:ext cx="2468880" cy="512064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600" b="1">
                <a:solidFill>
                  <a:srgbClr val="3B82F6"/>
                </a:solidFill>
                <a:latin typeface="Calibri"/>
              </a:rPr>
              <a:t>LLM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scheduled outer reconciler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6053328"/>
            <a:ext cx="5973775" cy="51206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137160" rIns="137160"/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→  Cheap loop notices. Expensive loop thinks.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2752344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000" b="1">
                <a:solidFill>
                  <a:srgbClr val="EF4444"/>
                </a:solidFill>
                <a:latin typeface="Calibri"/>
              </a:rPr>
              <a:t>FAILURE AUTOPSY 1 · SWE-BENCH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7680960" cy="5029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Budgets compound multiplicatively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56032"/>
            <a:ext cx="3504895" cy="9144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3600" b="1">
                <a:solidFill>
                  <a:srgbClr val="EF4444"/>
                </a:solidFill>
                <a:latin typeface="Calibri"/>
              </a:rPr>
              <a:t>18.4 h</a:t>
            </a:r>
          </a:p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projected vs 12 h hard kill</a:t>
            </a:r>
          </a:p>
        </p:txBody>
      </p:sp>
      <p:pic>
        <p:nvPicPr>
          <p:cNvPr id="5" name="Picture 4" descr="fig2_swe_runtime_math.png"/>
          <p:cNvPicPr>
            <a:picLocks noChangeAspect="1"/>
          </p:cNvPicPr>
          <p:nvPr/>
        </p:nvPicPr>
        <p:blipFill>
          <a:blip r:embed="rId3"/>
          <a:srcRect t="8000"/>
          <a:stretch>
            <a:fillRect/>
          </a:stretch>
        </p:blipFill>
        <p:spPr>
          <a:xfrm>
            <a:off x="1007012" y="1234440"/>
            <a:ext cx="10177669" cy="4681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6053328"/>
            <a:ext cx="2468880" cy="512064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600" b="1">
                <a:solidFill>
                  <a:srgbClr val="F59E0B"/>
                </a:solidFill>
                <a:latin typeface="Calibri"/>
              </a:rPr>
              <a:t>8.0 → 3.5 min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per-task agent cap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6053328"/>
            <a:ext cx="2468880" cy="512064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600" b="1">
                <a:solidFill>
                  <a:srgbClr val="10B981"/>
                </a:solidFill>
                <a:latin typeface="Calibri"/>
              </a:rPr>
              <a:t>≤ 8.5 h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calibrated runtime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6053328"/>
            <a:ext cx="5973775" cy="51206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137160" rIns="137160"/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→  Prove T_worst ≤ limit before dispatch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3410712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000" b="1">
                <a:solidFill>
                  <a:srgbClr val="F59E0B"/>
                </a:solidFill>
                <a:latin typeface="Calibri"/>
              </a:rPr>
              <a:t>FAILURE AUTOPSY 2 · CLIMATE EMULATION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7680960" cy="5029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Autoregressive boundary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56032"/>
            <a:ext cx="3504895" cy="9144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3600" b="1">
                <a:solidFill>
                  <a:srgbClr val="F59E0B"/>
                </a:solidFill>
                <a:latin typeface="Calibri"/>
              </a:rPr>
              <a:t>Hour 2.1</a:t>
            </a:r>
          </a:p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AssertionError at hop 8</a:t>
            </a:r>
          </a:p>
        </p:txBody>
      </p:sp>
      <p:pic>
        <p:nvPicPr>
          <p:cNvPr id="5" name="Picture 4" descr="fig_boundary_drift.png"/>
          <p:cNvPicPr>
            <a:picLocks noChangeAspect="1"/>
          </p:cNvPicPr>
          <p:nvPr/>
        </p:nvPicPr>
        <p:blipFill>
          <a:blip r:embed="rId3"/>
          <a:srcRect t="8000"/>
          <a:stretch>
            <a:fillRect/>
          </a:stretch>
        </p:blipFill>
        <p:spPr>
          <a:xfrm>
            <a:off x="794978" y="1234440"/>
            <a:ext cx="10601739" cy="4681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6053328"/>
            <a:ext cx="2468880" cy="512064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600" b="1">
                <a:solidFill>
                  <a:srgbClr val="06B6D4"/>
                </a:solidFill>
                <a:latin typeface="Calibri"/>
              </a:rPr>
              <a:t>185k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rows rolled 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6053328"/>
            <a:ext cx="2468880" cy="512064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600" b="1">
                <a:solidFill>
                  <a:srgbClr val="EF4444"/>
                </a:solidFill>
                <a:latin typeface="Calibri"/>
              </a:rPr>
              <a:t>0.000 m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tree height reached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6053328"/>
            <a:ext cx="5973775" cy="51206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137160" rIns="137160"/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→  Enforce invariants every hop — not at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682495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000" b="1">
                <a:solidFill>
                  <a:srgbClr val="10B981"/>
                </a:solidFill>
                <a:latin typeface="Calibri"/>
              </a:rPr>
              <a:t>VERIFIED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7680960" cy="5029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One agent, five live leaderboards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56032"/>
            <a:ext cx="3504895" cy="9144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3600" b="1">
                <a:solidFill>
                  <a:srgbClr val="10B981"/>
                </a:solidFill>
                <a:latin typeface="Calibri"/>
              </a:rPr>
              <a:t>Top 4.88%</a:t>
            </a:r>
          </a:p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S6E9 · #131 / 2,683</a:t>
            </a:r>
          </a:p>
        </p:txBody>
      </p:sp>
      <p:pic>
        <p:nvPicPr>
          <p:cNvPr id="5" name="Picture 4" descr="fig_multidomain_standings.png"/>
          <p:cNvPicPr>
            <a:picLocks noChangeAspect="1"/>
          </p:cNvPicPr>
          <p:nvPr/>
        </p:nvPicPr>
        <p:blipFill>
          <a:blip r:embed="rId3"/>
          <a:srcRect t="8000"/>
          <a:stretch>
            <a:fillRect/>
          </a:stretch>
        </p:blipFill>
        <p:spPr>
          <a:xfrm>
            <a:off x="794978" y="1234440"/>
            <a:ext cx="10601739" cy="4681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6053328"/>
            <a:ext cx="2468880" cy="512064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600" b="1">
                <a:solidFill>
                  <a:srgbClr val="06B6D4"/>
                </a:solidFill>
                <a:latin typeface="Calibri"/>
              </a:rPr>
              <a:t>Top 11.8%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Biohub · #460 / 3,906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6053328"/>
            <a:ext cx="2468880" cy="512064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600" b="1">
                <a:solidFill>
                  <a:srgbClr val="3B82F6"/>
                </a:solidFill>
                <a:latin typeface="Calibri"/>
              </a:rPr>
              <a:t>Top 14.5%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UMUD · #45 / 310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6053328"/>
            <a:ext cx="5973775" cy="51206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137160" rIns="137160"/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→  Five concurrent campaigns under one supervisor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000" b="1">
                <a:solidFill>
                  <a:srgbClr val="10B981"/>
                </a:solidFill>
                <a:latin typeface="Calibri"/>
              </a:rPr>
              <a:t>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7680960" cy="5029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Cost of a 12-hour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56032"/>
            <a:ext cx="3504895" cy="9144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3600" b="1">
                <a:solidFill>
                  <a:srgbClr val="10B981"/>
                </a:solidFill>
                <a:latin typeface="Calibri"/>
              </a:rPr>
              <a:t>864×</a:t>
            </a:r>
          </a:p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cheaper than a 3-engineer team</a:t>
            </a:r>
          </a:p>
        </p:txBody>
      </p:sp>
      <p:pic>
        <p:nvPicPr>
          <p:cNvPr id="5" name="Picture 4" descr="fig1_cost_comparison.png"/>
          <p:cNvPicPr>
            <a:picLocks noChangeAspect="1"/>
          </p:cNvPicPr>
          <p:nvPr/>
        </p:nvPicPr>
        <p:blipFill>
          <a:blip r:embed="rId3"/>
          <a:srcRect t="8000"/>
          <a:stretch>
            <a:fillRect/>
          </a:stretch>
        </p:blipFill>
        <p:spPr>
          <a:xfrm>
            <a:off x="1469634" y="1234440"/>
            <a:ext cx="9252426" cy="4681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6053328"/>
            <a:ext cx="2468880" cy="512064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600" b="1">
                <a:solidFill>
                  <a:srgbClr val="10B981"/>
                </a:solidFill>
                <a:latin typeface="Calibri"/>
              </a:rPr>
              <a:t>$5.00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marginal cost per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6053328"/>
            <a:ext cx="2468880" cy="512064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600" b="1">
                <a:solidFill>
                  <a:srgbClr val="3B82F6"/>
                </a:solidFill>
                <a:latin typeface="Calibri"/>
              </a:rPr>
              <a:t>~$35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fully loaded (4× L4)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6053328"/>
            <a:ext cx="5973775" cy="51206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137160" rIns="137160"/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→  Engineer-hours become supervision-minutes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2176272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000" b="1">
                <a:solidFill>
                  <a:srgbClr val="06B6D4"/>
                </a:solidFill>
                <a:latin typeface="Calibri"/>
              </a:rPr>
              <a:t>REAL-WORLD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7680960" cy="5029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From leaderboards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55767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200" b="1">
                <a:solidFill>
                  <a:srgbClr val="06B6D4"/>
                </a:solidFill>
                <a:latin typeface="Calibri"/>
              </a:rPr>
              <a:t>Project SEQUOY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Clinical EHR · Kenya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1696669" cy="30175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3000" b="1">
                <a:solidFill>
                  <a:srgbClr val="06B6D4"/>
                </a:solidFill>
                <a:latin typeface="Calibri"/>
              </a:rPr>
              <a:t>FHIR R4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transaction bundles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6749" y="2194560"/>
            <a:ext cx="1696669" cy="30175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3000" b="1">
                <a:solidFill>
                  <a:srgbClr val="06B6D4"/>
                </a:solidFill>
                <a:latin typeface="Calibri"/>
              </a:rPr>
              <a:t>CIEL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KenyaEMR / OpenMRS concepts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6298" y="2194560"/>
            <a:ext cx="1696669" cy="30175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3000" b="1">
                <a:solidFill>
                  <a:srgbClr val="06B6D4"/>
                </a:solidFill>
                <a:latin typeface="Calibri"/>
              </a:rPr>
              <a:t>10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hospital dossiers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5455767" cy="54864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137160" rIns="137160"/>
          <a:lstStyle/>
          <a:p>
            <a:pPr algn="ctr"/>
            <a:r>
              <a:rPr sz="1400" b="1">
                <a:solidFill>
                  <a:srgbClr val="F8FAFC"/>
                </a:solidFill>
                <a:latin typeface="Calibri"/>
              </a:rPr>
              <a:t>→  Standards-native from day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371600"/>
            <a:ext cx="5455767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Calibri"/>
              </a:rPr>
              <a:t>Kenya Camera AI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Edge vision · CPU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1696669" cy="30175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3000" b="1">
                <a:solidFill>
                  <a:srgbClr val="3B82F6"/>
                </a:solidFill>
                <a:latin typeface="Calibri"/>
              </a:rPr>
              <a:t>50.9 ms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CPU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8276" y="2194560"/>
            <a:ext cx="1696669" cy="30175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3000" b="1">
                <a:solidFill>
                  <a:srgbClr val="3B82F6"/>
                </a:solidFill>
                <a:latin typeface="Calibri"/>
              </a:rPr>
              <a:t>9–12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feeds per box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37826" y="2194560"/>
            <a:ext cx="1696669" cy="30175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3000" b="1">
                <a:solidFill>
                  <a:srgbClr val="3B82F6"/>
                </a:solidFill>
                <a:latin typeface="Calibri"/>
              </a:rPr>
              <a:t>$150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Intel N100, no GPU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5486400"/>
            <a:ext cx="5455767" cy="54864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137160" rIns="137160"/>
          <a:lstStyle/>
          <a:p>
            <a:pPr algn="ctr"/>
            <a:r>
              <a:rPr sz="1400" b="1">
                <a:solidFill>
                  <a:srgbClr val="F8FAFC"/>
                </a:solidFill>
                <a:latin typeface="Calibri"/>
              </a:rPr>
              <a:t>→  7/7 smoke tests pass in 1.55 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188719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000" b="1">
                <a:solidFill>
                  <a:srgbClr val="06B6D4"/>
                </a:solidFill>
                <a:latin typeface="Calibri"/>
              </a:rPr>
              <a:t>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7680960" cy="5029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Three laws of long-horizon autonomy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576218" cy="4663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9549" y="1691640"/>
            <a:ext cx="731520" cy="7315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24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3210458" cy="12801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4400" b="1">
                <a:solidFill>
                  <a:srgbClr val="EF4444"/>
                </a:solidFill>
                <a:latin typeface="Calibri"/>
              </a:rPr>
              <a:t>5 : 1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silent stalls vs loud crashes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3210458" cy="12801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Paranoid liveness</a:t>
            </a:r>
          </a:p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Watchdogs + scheduled interrupts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417320"/>
            <a:ext cx="3576218" cy="4663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30087" y="16916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24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697480"/>
            <a:ext cx="3210458" cy="12801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4400" b="1">
                <a:solidFill>
                  <a:srgbClr val="F59E0B"/>
                </a:solidFill>
                <a:latin typeface="Calibri"/>
              </a:rPr>
              <a:t>≤ 12 h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worst case, proven pre-launch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4343400"/>
            <a:ext cx="3210458" cy="12801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Budget proofs</a:t>
            </a:r>
          </a:p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Prove T_worst ≤ limit, then dispatch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1417320"/>
            <a:ext cx="3576218" cy="4663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0626" y="16916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24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1156" y="2697480"/>
            <a:ext cx="3210458" cy="12801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4400" b="1">
                <a:solidFill>
                  <a:srgbClr val="10B981"/>
                </a:solidFill>
                <a:latin typeface="Calibri"/>
              </a:rPr>
              <a:t>Every hop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invariants checked in-loop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4343400"/>
            <a:ext cx="3210458" cy="12801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Boundary projections</a:t>
            </a:r>
          </a:p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Clamp per hop; log clip hit-rate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000" b="1">
                <a:solidFill>
                  <a:srgbClr val="06B6D4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7680960" cy="5029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Next: measure, generalize, prove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463040"/>
            <a:ext cx="3576218" cy="1005840"/>
          </a:xfrm>
          <a:prstGeom prst="homePlat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MEASURE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88920"/>
            <a:ext cx="3119018" cy="64008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MTTD / MTTR ablation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11879"/>
            <a:ext cx="3119018" cy="64008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Stall-hours avoided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434840"/>
            <a:ext cx="3119018" cy="64008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Clip-rate telemetry</a:t>
            </a:r>
          </a:p>
        </p:txBody>
      </p:sp>
      <p:sp>
        <p:nvSpPr>
          <p:cNvPr id="8" name="Chevron 7"/>
          <p:cNvSpPr/>
          <p:nvPr/>
        </p:nvSpPr>
        <p:spPr>
          <a:xfrm>
            <a:off x="4307738" y="1463040"/>
            <a:ext cx="3576218" cy="1005840"/>
          </a:xfrm>
          <a:prstGeom prst="chevron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GENERALIZE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6338" y="2788920"/>
            <a:ext cx="3119018" cy="64008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Declarative job registry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6338" y="3611879"/>
            <a:ext cx="3119018" cy="64008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Invariant library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6338" y="4434840"/>
            <a:ext cx="3119018" cy="64008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Budget-verifier CLI</a:t>
            </a:r>
          </a:p>
        </p:txBody>
      </p:sp>
      <p:sp>
        <p:nvSpPr>
          <p:cNvPr id="12" name="Chevron 11"/>
          <p:cNvSpPr/>
          <p:nvPr/>
        </p:nvSpPr>
        <p:spPr>
          <a:xfrm>
            <a:off x="8158276" y="1463040"/>
            <a:ext cx="3576218" cy="1005840"/>
          </a:xfrm>
          <a:prstGeom prst="chevron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PROVE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6876" y="2788920"/>
            <a:ext cx="3119018" cy="64008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Open telemetry logs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6876" y="3611879"/>
            <a:ext cx="3119018" cy="64008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Reproducible snapshots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6876" y="4434840"/>
            <a:ext cx="3119018" cy="64008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Multi-day swarms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1277295" cy="64008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ctr"/>
            <a:r>
              <a:rPr sz="2800" b="1">
                <a:solidFill>
                  <a:srgbClr val="06B6D4"/>
                </a:solidFill>
                <a:latin typeface="Calibri"/>
              </a:rPr>
              <a:t>Autonomy is an operations problem.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